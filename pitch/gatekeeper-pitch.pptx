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narration on the title slide. The spoken pitch starts on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Medical research depends on reliable health data. Yet accessing it can be expensive and complicated. In Germany, for example, the standard processing fee for a single application costs €4,000. That's why we created Gatekeeper.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Gatekeeper is an AI-powered decision-support platform for the European Health Data Space. Researchers can submit applications, specify their research objectives, and request access to healthcare data. Before official submission, our system identifies potential issues and helps prevent costly mistakes.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LLMs, our approach uses specialized decision models designed for structured and consistent evaluations. Gatekeeper analyzes each request, checks relevant requirements, and provides an explainable recommendation: rejection, statistical access, or access through a secure processing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staff side, applications are organized into case files for review. Our federated architecture allows participating hospital databases to process queries locally, without unnecessarily centralizing sensitive patient information. The system also respects patient opt-outs and applies privacy safeguards.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evaluate Gatekeeper using decision accuracy, statistical correctness, privacy protection, consistency, and processing time. Our goal is to minimize critical errors while making the evaluation process more efficient.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current prototype demonstrates this workflow using synthetic hospital data. Integration with real European healthcare infrastructure remains future work. Our vision is to help research institutions access and analyze health data more reliably, affordably, and securely. Gatekeeper: Making European health research safer, smarter, and more accessible.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194560"/>
            <a:ext cx="7315200" cy="1316736"/>
          </a:xfrm>
          <a:prstGeom prst="rect">
            <a:avLst/>
          </a:prstGeom>
          <a:noFill/>
        </p:spPr>
        <p:txBody>
          <a:bodyPr wrap="square" lIns="0" rIns="0" tIns="0" bIns="0" anchor="t">
            <a:spAutoFit/>
          </a:bodyPr>
          <a:lstStyle/>
          <a:p>
            <a:pPr algn="l"/>
            <a:r>
              <a:rPr sz="7200" b="1">
                <a:solidFill>
                  <a:srgbClr val="1D4E89"/>
                </a:solidFill>
                <a:latin typeface="Atkinson Hyperlegible Next"/>
              </a:rPr>
              <a:t>.</a:t>
            </a:r>
            <a:r>
              <a:rPr sz="7200" b="1">
                <a:solidFill>
                  <a:srgbClr val="16202A"/>
                </a:solidFill>
                <a:latin typeface="Atkinson Hyperlegible Next"/>
              </a:rPr>
              <a:t>Gatekeeper</a:t>
            </a:r>
          </a:p>
        </p:txBody>
      </p:sp>
      <p:sp>
        <p:nvSpPr>
          <p:cNvPr id="4" name="TextBox 3"/>
          <p:cNvSpPr txBox="1"/>
          <p:nvPr/>
        </p:nvSpPr>
        <p:spPr>
          <a:xfrm>
            <a:off x="1828800" y="3566160"/>
            <a:ext cx="9144000" cy="731520"/>
          </a:xfrm>
          <a:prstGeom prst="rect">
            <a:avLst/>
          </a:prstGeom>
          <a:noFill/>
        </p:spPr>
        <p:txBody>
          <a:bodyPr wrap="square" lIns="0" rIns="0" tIns="0" bIns="0" anchor="t">
            <a:spAutoFit/>
          </a:bodyPr>
          <a:lstStyle/>
          <a:p>
            <a:pPr algn="l"/>
            <a:r>
              <a:rPr sz="2600" b="0">
                <a:solidFill>
                  <a:srgbClr val="5B6670"/>
                </a:solidFill>
                <a:latin typeface="Source Serif 4"/>
              </a:rPr>
              <a:t>Decision support for the European Health Data Space</a:t>
            </a:r>
          </a:p>
        </p:txBody>
      </p:sp>
      <p:sp>
        <p:nvSpPr>
          <p:cNvPr id="5" name="TextBox 4"/>
          <p:cNvSpPr txBox="1"/>
          <p:nvPr/>
        </p:nvSpPr>
        <p:spPr>
          <a:xfrm>
            <a:off x="1828800" y="5394960"/>
            <a:ext cx="9144000" cy="457200"/>
          </a:xfrm>
          <a:prstGeom prst="rect">
            <a:avLst/>
          </a:prstGeom>
          <a:noFill/>
        </p:spPr>
        <p:txBody>
          <a:bodyPr wrap="square" lIns="0" rIns="0" tIns="0" bIns="0" anchor="t">
            <a:spAutoFit/>
          </a:bodyPr>
          <a:lstStyle/>
          <a:p>
            <a:pPr algn="l"/>
            <a:r>
              <a:rPr sz="1400" b="0">
                <a:solidFill>
                  <a:srgbClr val="5B6670"/>
                </a:solidFill>
                <a:latin typeface="Atkinson Hyperlegible Next"/>
              </a:rPr>
              <a:t>AIM Healthcare Hackathon Vienna 2026, Track 3. Oguz Nacar and Arda Sarikaya.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822960"/>
          </a:xfrm>
          <a:prstGeom prst="rect">
            <a:avLst/>
          </a:prstGeom>
          <a:noFill/>
        </p:spPr>
        <p:txBody>
          <a:bodyPr wrap="square" lIns="0" rIns="0" tIns="0" bIns="0" anchor="t">
            <a:spAutoFit/>
          </a:bodyPr>
          <a:lstStyle/>
          <a:p>
            <a:pPr algn="l"/>
            <a:r>
              <a:rPr sz="3400" b="1">
                <a:solidFill>
                  <a:srgbClr val="16202A"/>
                </a:solidFill>
                <a:latin typeface="Source Serif 4"/>
              </a:rPr>
              <a:t>Reliable health data is expensive and complicated to access</a:t>
            </a:r>
          </a:p>
        </p:txBody>
      </p:sp>
      <p:sp>
        <p:nvSpPr>
          <p:cNvPr id="4" name="TextBox 3"/>
          <p:cNvSpPr txBox="1"/>
          <p:nvPr/>
        </p:nvSpPr>
        <p:spPr>
          <a:xfrm>
            <a:off x="10424160" y="6263640"/>
            <a:ext cx="7315200" cy="256032"/>
          </a:xfrm>
          <a:prstGeom prst="rect">
            <a:avLst/>
          </a:prstGeom>
          <a:noFill/>
        </p:spPr>
        <p:txBody>
          <a:bodyPr wrap="square" lIns="0" rIns="0" tIns="0" bIns="0" anchor="t">
            <a:spAutoFit/>
          </a:bodyPr>
          <a:lstStyle/>
          <a:p>
            <a:pPr algn="l"/>
            <a:r>
              <a:rPr sz="1400" b="1">
                <a:solidFill>
                  <a:srgbClr val="1D4E89"/>
                </a:solidFill>
                <a:latin typeface="Atkinson Hyperlegible Next"/>
              </a:rPr>
              <a:t>.</a:t>
            </a:r>
            <a:r>
              <a:rPr sz="1400" b="1">
                <a:solidFill>
                  <a:srgbClr val="16202A"/>
                </a:solidFill>
                <a:latin typeface="Atkinson Hyperlegible Next"/>
              </a:rPr>
              <a:t>Gatekeeper</a:t>
            </a:r>
          </a:p>
        </p:txBody>
      </p:sp>
      <p:sp>
        <p:nvSpPr>
          <p:cNvPr id="5" name="Rectangle 4"/>
          <p:cNvSpPr/>
          <p:nvPr/>
        </p:nvSpPr>
        <p:spPr>
          <a:xfrm>
            <a:off x="548640" y="1645920"/>
            <a:ext cx="5120640" cy="420624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389120" cy="1463040"/>
          </a:xfrm>
          <a:prstGeom prst="rect">
            <a:avLst/>
          </a:prstGeom>
          <a:noFill/>
        </p:spPr>
        <p:txBody>
          <a:bodyPr wrap="square" lIns="0" rIns="0" tIns="0" bIns="0" anchor="t">
            <a:spAutoFit/>
          </a:bodyPr>
          <a:lstStyle/>
          <a:p>
            <a:pPr algn="l"/>
            <a:r>
              <a:rPr sz="6000" b="1">
                <a:solidFill>
                  <a:srgbClr val="9B2226"/>
                </a:solidFill>
                <a:latin typeface="IBM Plex Mono"/>
              </a:rPr>
              <a:t>EUR 4,000</a:t>
            </a:r>
          </a:p>
        </p:txBody>
      </p:sp>
      <p:sp>
        <p:nvSpPr>
          <p:cNvPr id="7" name="TextBox 6"/>
          <p:cNvSpPr txBox="1"/>
          <p:nvPr/>
        </p:nvSpPr>
        <p:spPr>
          <a:xfrm>
            <a:off x="914400" y="3566160"/>
            <a:ext cx="4389120" cy="2011680"/>
          </a:xfrm>
          <a:prstGeom prst="rect">
            <a:avLst/>
          </a:prstGeom>
          <a:noFill/>
        </p:spPr>
        <p:txBody>
          <a:bodyPr wrap="square" lIns="0" rIns="0" tIns="0" bIns="0" anchor="t">
            <a:spAutoFit/>
          </a:bodyPr>
          <a:lstStyle/>
          <a:p>
            <a:pPr algn="l">
              <a:spcAft>
                <a:spcPts val="1000"/>
              </a:spcAft>
            </a:pPr>
            <a:r>
              <a:rPr sz="1800" b="0">
                <a:solidFill>
                  <a:srgbClr val="16202A"/>
                </a:solidFill>
                <a:latin typeface="Atkinson Hyperlegible Next"/>
              </a:rPr>
              <a:t>Standard processing fee for one application in Germany.</a:t>
            </a:r>
          </a:p>
          <a:p>
            <a:pPr algn="l">
              <a:spcAft>
                <a:spcPts val="1000"/>
              </a:spcAft>
            </a:pPr>
            <a:r>
              <a:rPr sz="1800" b="0">
                <a:solidFill>
                  <a:srgbClr val="16202A"/>
                </a:solidFill>
                <a:latin typeface="Atkinson Hyperlegible Next"/>
              </a:rPr>
              <a:t>Paid before anyone knows whether the request can be granted.</a:t>
            </a:r>
          </a:p>
        </p:txBody>
      </p:sp>
      <p:sp>
        <p:nvSpPr>
          <p:cNvPr id="8" name="TextBox 7"/>
          <p:cNvSpPr txBox="1"/>
          <p:nvPr/>
        </p:nvSpPr>
        <p:spPr>
          <a:xfrm>
            <a:off x="6217920" y="1737360"/>
            <a:ext cx="5486400" cy="4206240"/>
          </a:xfrm>
          <a:prstGeom prst="rect">
            <a:avLst/>
          </a:prstGeom>
          <a:noFill/>
        </p:spPr>
        <p:txBody>
          <a:bodyPr wrap="square" lIns="0" rIns="0" tIns="0" bIns="0" anchor="t">
            <a:spAutoFit/>
          </a:bodyPr>
          <a:lstStyle/>
          <a:p>
            <a:pPr algn="l">
              <a:spcAft>
                <a:spcPts val="1400"/>
              </a:spcAft>
            </a:pPr>
            <a:r>
              <a:rPr sz="2000" b="1">
                <a:solidFill>
                  <a:srgbClr val="16202A"/>
                </a:solidFill>
                <a:latin typeface="Atkinson Hyperlegible Next"/>
              </a:rPr>
              <a:t>Medical research depends on reliable health data.</a:t>
            </a:r>
          </a:p>
          <a:p>
            <a:pPr algn="l">
              <a:spcAft>
                <a:spcPts val="1400"/>
              </a:spcAft>
            </a:pPr>
            <a:r>
              <a:rPr sz="2000" b="0">
                <a:solidFill>
                  <a:srgbClr val="16202A"/>
                </a:solidFill>
                <a:latin typeface="Atkinson Hyperlegible Next"/>
              </a:rPr>
              <a:t>Every application goes through a Health Data Access Body under Regulation (EU) 2025/327.</a:t>
            </a:r>
          </a:p>
          <a:p>
            <a:pPr algn="l">
              <a:spcAft>
                <a:spcPts val="1400"/>
              </a:spcAft>
            </a:pPr>
            <a:r>
              <a:rPr sz="2000" b="0">
                <a:solidFill>
                  <a:srgbClr val="16202A"/>
                </a:solidFill>
                <a:latin typeface="Atkinson Hyperlegible Next"/>
              </a:rPr>
              <a:t>Applicants write the request, wait, and find out late which article blocks it.</a:t>
            </a:r>
          </a:p>
          <a:p>
            <a:pPr algn="l">
              <a:spcAft>
                <a:spcPts val="1400"/>
              </a:spcAft>
            </a:pPr>
            <a:r>
              <a:rPr sz="2000" b="1">
                <a:solidFill>
                  <a:srgbClr val="1D4E89"/>
                </a:solidFill>
                <a:latin typeface="Atkinson Hyperlegible Next"/>
              </a:rPr>
              <a:t>That is why we created Gatekeeper.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822960"/>
          </a:xfrm>
          <a:prstGeom prst="rect">
            <a:avLst/>
          </a:prstGeom>
          <a:noFill/>
        </p:spPr>
        <p:txBody>
          <a:bodyPr wrap="square" lIns="0" rIns="0" tIns="0" bIns="0" anchor="t">
            <a:spAutoFit/>
          </a:bodyPr>
          <a:lstStyle/>
          <a:p>
            <a:pPr algn="l"/>
            <a:r>
              <a:rPr sz="3400" b="1">
                <a:solidFill>
                  <a:srgbClr val="16202A"/>
                </a:solidFill>
                <a:latin typeface="Source Serif 4"/>
              </a:rPr>
              <a:t>Applicant interface: submit, then see the decision</a:t>
            </a:r>
          </a:p>
        </p:txBody>
      </p:sp>
      <p:sp>
        <p:nvSpPr>
          <p:cNvPr id="4" name="TextBox 3"/>
          <p:cNvSpPr txBox="1"/>
          <p:nvPr/>
        </p:nvSpPr>
        <p:spPr>
          <a:xfrm>
            <a:off x="10424160" y="6263640"/>
            <a:ext cx="7315200" cy="256032"/>
          </a:xfrm>
          <a:prstGeom prst="rect">
            <a:avLst/>
          </a:prstGeom>
          <a:noFill/>
        </p:spPr>
        <p:txBody>
          <a:bodyPr wrap="square" lIns="0" rIns="0" tIns="0" bIns="0" anchor="t">
            <a:spAutoFit/>
          </a:bodyPr>
          <a:lstStyle/>
          <a:p>
            <a:pPr algn="l"/>
            <a:r>
              <a:rPr sz="1400" b="1">
                <a:solidFill>
                  <a:srgbClr val="1D4E89"/>
                </a:solidFill>
                <a:latin typeface="Atkinson Hyperlegible Next"/>
              </a:rPr>
              <a:t>.</a:t>
            </a:r>
            <a:r>
              <a:rPr sz="1400" b="1">
                <a:solidFill>
                  <a:srgbClr val="16202A"/>
                </a:solidFill>
                <a:latin typeface="Atkinson Hyperlegible Next"/>
              </a:rPr>
              <a:t>Gatekeeper</a:t>
            </a:r>
          </a:p>
        </p:txBody>
      </p:sp>
      <p:pic>
        <p:nvPicPr>
          <p:cNvPr id="5" name="Picture 4" descr="applicant-form.png"/>
          <p:cNvPicPr>
            <a:picLocks noChangeAspect="1"/>
          </p:cNvPicPr>
          <p:nvPr/>
        </p:nvPicPr>
        <p:blipFill>
          <a:blip r:embed="rId3"/>
          <a:stretch>
            <a:fillRect/>
          </a:stretch>
        </p:blipFill>
        <p:spPr>
          <a:xfrm>
            <a:off x="548640" y="1463040"/>
            <a:ext cx="6583680" cy="4114800"/>
          </a:xfrm>
          <a:prstGeom prst="rect">
            <a:avLst/>
          </a:prstGeom>
        </p:spPr>
      </p:pic>
      <p:pic>
        <p:nvPicPr>
          <p:cNvPr id="6" name="Picture 5" descr="notice-approve-spe.png"/>
          <p:cNvPicPr>
            <a:picLocks noChangeAspect="1"/>
          </p:cNvPicPr>
          <p:nvPr/>
        </p:nvPicPr>
        <p:blipFill>
          <a:blip r:embed="rId4"/>
          <a:stretch>
            <a:fillRect/>
          </a:stretch>
        </p:blipFill>
        <p:spPr>
          <a:xfrm>
            <a:off x="7863840" y="1463040"/>
            <a:ext cx="3179752" cy="4480560"/>
          </a:xfrm>
          <a:prstGeom prst="rect">
            <a:avLst/>
          </a:prstGeom>
        </p:spPr>
      </p:pic>
      <p:sp>
        <p:nvSpPr>
          <p:cNvPr id="7" name="TextBox 6"/>
          <p:cNvSpPr txBox="1"/>
          <p:nvPr/>
        </p:nvSpPr>
        <p:spPr>
          <a:xfrm>
            <a:off x="548640" y="5669280"/>
            <a:ext cx="6583680" cy="457200"/>
          </a:xfrm>
          <a:prstGeom prst="rect">
            <a:avLst/>
          </a:prstGeom>
          <a:noFill/>
        </p:spPr>
        <p:txBody>
          <a:bodyPr wrap="square" lIns="0" rIns="0" tIns="0" bIns="0" anchor="t">
            <a:spAutoFit/>
          </a:bodyPr>
          <a:lstStyle/>
          <a:p>
            <a:pPr algn="l"/>
            <a:r>
              <a:rPr sz="1300" b="0">
                <a:solidFill>
                  <a:srgbClr val="5B6670"/>
                </a:solidFill>
                <a:latin typeface="Atkinson Hyperlegible Next"/>
              </a:rPr>
              <a:t>Request form: purpose, question, definitions.</a:t>
            </a:r>
          </a:p>
        </p:txBody>
      </p:sp>
      <p:sp>
        <p:nvSpPr>
          <p:cNvPr id="8" name="TextBox 7"/>
          <p:cNvSpPr txBox="1"/>
          <p:nvPr/>
        </p:nvSpPr>
        <p:spPr>
          <a:xfrm>
            <a:off x="7863840" y="6035040"/>
            <a:ext cx="3840480" cy="457200"/>
          </a:xfrm>
          <a:prstGeom prst="rect">
            <a:avLst/>
          </a:prstGeom>
          <a:noFill/>
        </p:spPr>
        <p:txBody>
          <a:bodyPr wrap="square" lIns="0" rIns="0" tIns="0" bIns="0" anchor="t">
            <a:spAutoFit/>
          </a:bodyPr>
          <a:lstStyle/>
          <a:p>
            <a:pPr algn="l"/>
            <a:r>
              <a:rPr sz="1200" b="0">
                <a:solidFill>
                  <a:srgbClr val="5B6670"/>
                </a:solidFill>
                <a:latin typeface="Atkinson Hyperlegible Next"/>
              </a:rPr>
              <a:t>Decision notice: APPROVE_SPE with Art. 53, 66(3), 68, 73(2).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822960"/>
          </a:xfrm>
          <a:prstGeom prst="rect">
            <a:avLst/>
          </a:prstGeom>
          <a:noFill/>
        </p:spPr>
        <p:txBody>
          <a:bodyPr wrap="square" lIns="0" rIns="0" tIns="0" bIns="0" anchor="t">
            <a:spAutoFit/>
          </a:bodyPr>
          <a:lstStyle/>
          <a:p>
            <a:pPr algn="l"/>
            <a:r>
              <a:rPr sz="3400" b="1">
                <a:solidFill>
                  <a:srgbClr val="16202A"/>
                </a:solidFill>
                <a:latin typeface="Source Serif 4"/>
              </a:rPr>
              <a:t>AI decision engine: structured, consistent, explainable</a:t>
            </a:r>
          </a:p>
        </p:txBody>
      </p:sp>
      <p:sp>
        <p:nvSpPr>
          <p:cNvPr id="4" name="TextBox 3"/>
          <p:cNvSpPr txBox="1"/>
          <p:nvPr/>
        </p:nvSpPr>
        <p:spPr>
          <a:xfrm>
            <a:off x="10424160" y="6263640"/>
            <a:ext cx="7315200" cy="256032"/>
          </a:xfrm>
          <a:prstGeom prst="rect">
            <a:avLst/>
          </a:prstGeom>
          <a:noFill/>
        </p:spPr>
        <p:txBody>
          <a:bodyPr wrap="square" lIns="0" rIns="0" tIns="0" bIns="0" anchor="t">
            <a:spAutoFit/>
          </a:bodyPr>
          <a:lstStyle/>
          <a:p>
            <a:pPr algn="l"/>
            <a:r>
              <a:rPr sz="1400" b="1">
                <a:solidFill>
                  <a:srgbClr val="1D4E89"/>
                </a:solidFill>
                <a:latin typeface="Atkinson Hyperlegible Next"/>
              </a:rPr>
              <a:t>.</a:t>
            </a:r>
            <a:r>
              <a:rPr sz="1400" b="1">
                <a:solidFill>
                  <a:srgbClr val="16202A"/>
                </a:solidFill>
                <a:latin typeface="Atkinson Hyperlegible Next"/>
              </a:rPr>
              <a:t>Gatekeeper</a:t>
            </a:r>
          </a:p>
        </p:txBody>
      </p:sp>
      <p:sp>
        <p:nvSpPr>
          <p:cNvPr id="5" name="Rectangle 4"/>
          <p:cNvSpPr/>
          <p:nvPr/>
        </p:nvSpPr>
        <p:spPr>
          <a:xfrm>
            <a:off x="548640" y="1554480"/>
            <a:ext cx="3520440" cy="265176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1828800"/>
            <a:ext cx="548640" cy="54864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BM Plex Mono"/>
              </a:rPr>
              <a:t>1</a:t>
            </a:r>
          </a:p>
        </p:txBody>
      </p:sp>
      <p:sp>
        <p:nvSpPr>
          <p:cNvPr id="7" name="TextBox 6"/>
          <p:cNvSpPr txBox="1"/>
          <p:nvPr/>
        </p:nvSpPr>
        <p:spPr>
          <a:xfrm>
            <a:off x="822959" y="2560320"/>
            <a:ext cx="3017520" cy="640080"/>
          </a:xfrm>
          <a:prstGeom prst="rect">
            <a:avLst/>
          </a:prstGeom>
          <a:noFill/>
        </p:spPr>
        <p:txBody>
          <a:bodyPr wrap="square" lIns="0" rIns="0" tIns="0" bIns="0" anchor="t">
            <a:spAutoFit/>
          </a:bodyPr>
          <a:lstStyle/>
          <a:p>
            <a:pPr algn="l"/>
            <a:r>
              <a:rPr sz="1800" b="1">
                <a:solidFill>
                  <a:srgbClr val="16202A"/>
                </a:solidFill>
                <a:latin typeface="Atkinson Hyperlegible Next"/>
              </a:rPr>
              <a:t>Each request is analyzed</a:t>
            </a:r>
          </a:p>
        </p:txBody>
      </p:sp>
      <p:sp>
        <p:nvSpPr>
          <p:cNvPr id="8" name="TextBox 7"/>
          <p:cNvSpPr txBox="1"/>
          <p:nvPr/>
        </p:nvSpPr>
        <p:spPr>
          <a:xfrm>
            <a:off x="822959" y="3200400"/>
            <a:ext cx="3017520" cy="914400"/>
          </a:xfrm>
          <a:prstGeom prst="rect">
            <a:avLst/>
          </a:prstGeom>
          <a:noFill/>
        </p:spPr>
        <p:txBody>
          <a:bodyPr wrap="square" lIns="0" rIns="0" tIns="0" bIns="0" anchor="t">
            <a:spAutoFit/>
          </a:bodyPr>
          <a:lstStyle/>
          <a:p>
            <a:pPr algn="l"/>
            <a:r>
              <a:rPr sz="1400" b="0">
                <a:solidFill>
                  <a:srgbClr val="5B6670"/>
                </a:solidFill>
                <a:latin typeface="Atkinson Hyperlegible Next"/>
              </a:rPr>
              <a:t>Purpose, question and definitions are read as structured fields.</a:t>
            </a:r>
          </a:p>
        </p:txBody>
      </p:sp>
      <p:sp>
        <p:nvSpPr>
          <p:cNvPr id="9" name="Rectangle 8"/>
          <p:cNvSpPr/>
          <p:nvPr/>
        </p:nvSpPr>
        <p:spPr>
          <a:xfrm>
            <a:off x="4343400" y="1554480"/>
            <a:ext cx="3520440" cy="265176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20" y="1828800"/>
            <a:ext cx="548640" cy="54864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BM Plex Mono"/>
              </a:rPr>
              <a:t>2</a:t>
            </a:r>
          </a:p>
        </p:txBody>
      </p:sp>
      <p:sp>
        <p:nvSpPr>
          <p:cNvPr id="11" name="TextBox 10"/>
          <p:cNvSpPr txBox="1"/>
          <p:nvPr/>
        </p:nvSpPr>
        <p:spPr>
          <a:xfrm>
            <a:off x="4617720" y="2560320"/>
            <a:ext cx="3017520" cy="640080"/>
          </a:xfrm>
          <a:prstGeom prst="rect">
            <a:avLst/>
          </a:prstGeom>
          <a:noFill/>
        </p:spPr>
        <p:txBody>
          <a:bodyPr wrap="square" lIns="0" rIns="0" tIns="0" bIns="0" anchor="t">
            <a:spAutoFit/>
          </a:bodyPr>
          <a:lstStyle/>
          <a:p>
            <a:pPr algn="l"/>
            <a:r>
              <a:rPr sz="1800" b="1">
                <a:solidFill>
                  <a:srgbClr val="16202A"/>
                </a:solidFill>
                <a:latin typeface="Atkinson Hyperlegible Next"/>
              </a:rPr>
              <a:t>Relevant requirements are checked</a:t>
            </a:r>
          </a:p>
        </p:txBody>
      </p:sp>
      <p:sp>
        <p:nvSpPr>
          <p:cNvPr id="12" name="TextBox 11"/>
          <p:cNvSpPr txBox="1"/>
          <p:nvPr/>
        </p:nvSpPr>
        <p:spPr>
          <a:xfrm>
            <a:off x="4617720" y="3200400"/>
            <a:ext cx="3017520" cy="914400"/>
          </a:xfrm>
          <a:prstGeom prst="rect">
            <a:avLst/>
          </a:prstGeom>
          <a:noFill/>
        </p:spPr>
        <p:txBody>
          <a:bodyPr wrap="square" lIns="0" rIns="0" tIns="0" bIns="0" anchor="t">
            <a:spAutoFit/>
          </a:bodyPr>
          <a:lstStyle/>
          <a:p>
            <a:pPr algn="l"/>
            <a:r>
              <a:rPr sz="1400" b="0">
                <a:solidFill>
                  <a:srgbClr val="5B6670"/>
                </a:solidFill>
                <a:latin typeface="Atkinson Hyperlegible Next"/>
              </a:rPr>
              <a:t>Chapter IV of Regulation (EU) 2025/327, rule by rule.</a:t>
            </a:r>
          </a:p>
        </p:txBody>
      </p:sp>
      <p:sp>
        <p:nvSpPr>
          <p:cNvPr id="13" name="Rectangle 12"/>
          <p:cNvSpPr/>
          <p:nvPr/>
        </p:nvSpPr>
        <p:spPr>
          <a:xfrm>
            <a:off x="8138160" y="1554480"/>
            <a:ext cx="3520440" cy="265176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412480" y="1828800"/>
            <a:ext cx="548640" cy="548640"/>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BM Plex Mono"/>
              </a:rPr>
              <a:t>3</a:t>
            </a:r>
          </a:p>
        </p:txBody>
      </p:sp>
      <p:sp>
        <p:nvSpPr>
          <p:cNvPr id="15" name="TextBox 14"/>
          <p:cNvSpPr txBox="1"/>
          <p:nvPr/>
        </p:nvSpPr>
        <p:spPr>
          <a:xfrm>
            <a:off x="8412480" y="2560320"/>
            <a:ext cx="3017520" cy="640080"/>
          </a:xfrm>
          <a:prstGeom prst="rect">
            <a:avLst/>
          </a:prstGeom>
          <a:noFill/>
        </p:spPr>
        <p:txBody>
          <a:bodyPr wrap="square" lIns="0" rIns="0" tIns="0" bIns="0" anchor="t">
            <a:spAutoFit/>
          </a:bodyPr>
          <a:lstStyle/>
          <a:p>
            <a:pPr algn="l"/>
            <a:r>
              <a:rPr sz="1800" b="1">
                <a:solidFill>
                  <a:srgbClr val="16202A"/>
                </a:solidFill>
                <a:latin typeface="Atkinson Hyperlegible Next"/>
              </a:rPr>
              <a:t>An explainable recommendation</a:t>
            </a:r>
          </a:p>
        </p:txBody>
      </p:sp>
      <p:sp>
        <p:nvSpPr>
          <p:cNvPr id="16" name="TextBox 15"/>
          <p:cNvSpPr txBox="1"/>
          <p:nvPr/>
        </p:nvSpPr>
        <p:spPr>
          <a:xfrm>
            <a:off x="8412480" y="3200400"/>
            <a:ext cx="3017520" cy="914400"/>
          </a:xfrm>
          <a:prstGeom prst="rect">
            <a:avLst/>
          </a:prstGeom>
          <a:noFill/>
        </p:spPr>
        <p:txBody>
          <a:bodyPr wrap="square" lIns="0" rIns="0" tIns="0" bIns="0" anchor="t">
            <a:spAutoFit/>
          </a:bodyPr>
          <a:lstStyle/>
          <a:p>
            <a:pPr algn="l"/>
            <a:r>
              <a:rPr sz="1400" b="0">
                <a:solidFill>
                  <a:srgbClr val="5B6670"/>
                </a:solidFill>
                <a:latin typeface="Atkinson Hyperlegible Next"/>
              </a:rPr>
              <a:t>Every outcome names the rule applied and cites the articles.</a:t>
            </a:r>
          </a:p>
        </p:txBody>
      </p:sp>
      <p:sp>
        <p:nvSpPr>
          <p:cNvPr id="17" name="TextBox 16"/>
          <p:cNvSpPr txBox="1"/>
          <p:nvPr/>
        </p:nvSpPr>
        <p:spPr>
          <a:xfrm>
            <a:off x="548640" y="4572000"/>
            <a:ext cx="10972800" cy="457200"/>
          </a:xfrm>
          <a:prstGeom prst="rect">
            <a:avLst/>
          </a:prstGeom>
          <a:noFill/>
        </p:spPr>
        <p:txBody>
          <a:bodyPr wrap="square" lIns="0" rIns="0" tIns="0" bIns="0" anchor="t">
            <a:spAutoFit/>
          </a:bodyPr>
          <a:lstStyle/>
          <a:p>
            <a:pPr algn="l"/>
            <a:r>
              <a:rPr sz="1600" b="1">
                <a:solidFill>
                  <a:srgbClr val="16202A"/>
                </a:solidFill>
                <a:latin typeface="Atkinson Hyperlegible Next"/>
              </a:rPr>
              <a:t>Three possible outcomes</a:t>
            </a:r>
          </a:p>
        </p:txBody>
      </p:sp>
      <p:sp>
        <p:nvSpPr>
          <p:cNvPr id="18" name="Rounded Rectangle 17"/>
          <p:cNvSpPr/>
          <p:nvPr/>
        </p:nvSpPr>
        <p:spPr>
          <a:xfrm>
            <a:off x="548640" y="5074920"/>
            <a:ext cx="2194560" cy="457200"/>
          </a:xfrm>
          <a:prstGeom prst="roundRect">
            <a:avLst>
              <a:gd name="adj" fmla="val 30000"/>
            </a:avLst>
          </a:prstGeom>
          <a:solidFill>
            <a:srgbClr val="9B22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BM Plex Mono"/>
              </a:rPr>
              <a:t>REJECT</a:t>
            </a:r>
          </a:p>
        </p:txBody>
      </p:sp>
      <p:sp>
        <p:nvSpPr>
          <p:cNvPr id="19" name="Rounded Rectangle 18"/>
          <p:cNvSpPr/>
          <p:nvPr/>
        </p:nvSpPr>
        <p:spPr>
          <a:xfrm>
            <a:off x="2926080" y="5074920"/>
            <a:ext cx="3291840" cy="457200"/>
          </a:xfrm>
          <a:prstGeom prst="roundRect">
            <a:avLst>
              <a:gd name="adj" fmla="val 3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BM Plex Mono"/>
              </a:rPr>
              <a:t>APPROVE_STATISTICAL</a:t>
            </a:r>
          </a:p>
        </p:txBody>
      </p:sp>
      <p:sp>
        <p:nvSpPr>
          <p:cNvPr id="20" name="Rounded Rectangle 19"/>
          <p:cNvSpPr/>
          <p:nvPr/>
        </p:nvSpPr>
        <p:spPr>
          <a:xfrm>
            <a:off x="6400800" y="5074920"/>
            <a:ext cx="2377440" cy="457200"/>
          </a:xfrm>
          <a:prstGeom prst="roundRect">
            <a:avLst>
              <a:gd name="adj" fmla="val 30000"/>
            </a:avLst>
          </a:prstGeom>
          <a:solidFill>
            <a:srgbClr val="2D6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BM Plex Mono"/>
              </a:rPr>
              <a:t>APPROVE_SPE</a:t>
            </a:r>
          </a:p>
        </p:txBody>
      </p:sp>
      <p:sp>
        <p:nvSpPr>
          <p:cNvPr id="21" name="TextBox 20"/>
          <p:cNvSpPr txBox="1"/>
          <p:nvPr/>
        </p:nvSpPr>
        <p:spPr>
          <a:xfrm>
            <a:off x="548640" y="5715000"/>
            <a:ext cx="10972800" cy="457200"/>
          </a:xfrm>
          <a:prstGeom prst="rect">
            <a:avLst/>
          </a:prstGeom>
          <a:noFill/>
        </p:spPr>
        <p:txBody>
          <a:bodyPr wrap="square" lIns="0" rIns="0" tIns="0" bIns="0" anchor="t">
            <a:spAutoFit/>
          </a:bodyPr>
          <a:lstStyle/>
          <a:p>
            <a:pPr algn="l"/>
            <a:r>
              <a:rPr sz="1400" b="0">
                <a:solidFill>
                  <a:srgbClr val="5B6670"/>
                </a:solidFill>
                <a:latin typeface="Atkinson Hyperlegible Next"/>
              </a:rPr>
              <a:t>Specialized decision models instead of a free-form LLM answer: the same request gets the same decision.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822960"/>
          </a:xfrm>
          <a:prstGeom prst="rect">
            <a:avLst/>
          </a:prstGeom>
          <a:noFill/>
        </p:spPr>
        <p:txBody>
          <a:bodyPr wrap="square" lIns="0" rIns="0" tIns="0" bIns="0" anchor="t">
            <a:spAutoFit/>
          </a:bodyPr>
          <a:lstStyle/>
          <a:p>
            <a:pPr algn="l"/>
            <a:r>
              <a:rPr sz="3400" b="1">
                <a:solidFill>
                  <a:srgbClr val="16202A"/>
                </a:solidFill>
                <a:latin typeface="Source Serif 4"/>
              </a:rPr>
              <a:t>Staff interface and federated data</a:t>
            </a:r>
          </a:p>
        </p:txBody>
      </p:sp>
      <p:sp>
        <p:nvSpPr>
          <p:cNvPr id="4" name="TextBox 3"/>
          <p:cNvSpPr txBox="1"/>
          <p:nvPr/>
        </p:nvSpPr>
        <p:spPr>
          <a:xfrm>
            <a:off x="10424160" y="6263640"/>
            <a:ext cx="7315200" cy="256032"/>
          </a:xfrm>
          <a:prstGeom prst="rect">
            <a:avLst/>
          </a:prstGeom>
          <a:noFill/>
        </p:spPr>
        <p:txBody>
          <a:bodyPr wrap="square" lIns="0" rIns="0" tIns="0" bIns="0" anchor="t">
            <a:spAutoFit/>
          </a:bodyPr>
          <a:lstStyle/>
          <a:p>
            <a:pPr algn="l"/>
            <a:r>
              <a:rPr sz="1400" b="1">
                <a:solidFill>
                  <a:srgbClr val="1D4E89"/>
                </a:solidFill>
                <a:latin typeface="Atkinson Hyperlegible Next"/>
              </a:rPr>
              <a:t>.</a:t>
            </a:r>
            <a:r>
              <a:rPr sz="1400" b="1">
                <a:solidFill>
                  <a:srgbClr val="16202A"/>
                </a:solidFill>
                <a:latin typeface="Atkinson Hyperlegible Next"/>
              </a:rPr>
              <a:t>Gatekeeper</a:t>
            </a:r>
          </a:p>
        </p:txBody>
      </p:sp>
      <p:pic>
        <p:nvPicPr>
          <p:cNvPr id="5" name="Picture 4" descr="staff-casefile.png"/>
          <p:cNvPicPr>
            <a:picLocks noChangeAspect="1"/>
          </p:cNvPicPr>
          <p:nvPr/>
        </p:nvPicPr>
        <p:blipFill>
          <a:blip r:embed="rId3"/>
          <a:stretch>
            <a:fillRect/>
          </a:stretch>
        </p:blipFill>
        <p:spPr>
          <a:xfrm>
            <a:off x="548640" y="1463040"/>
            <a:ext cx="5486400" cy="3690851"/>
          </a:xfrm>
          <a:prstGeom prst="rect">
            <a:avLst/>
          </a:prstGeom>
        </p:spPr>
      </p:pic>
      <p:sp>
        <p:nvSpPr>
          <p:cNvPr id="6" name="TextBox 5"/>
          <p:cNvSpPr txBox="1"/>
          <p:nvPr/>
        </p:nvSpPr>
        <p:spPr>
          <a:xfrm>
            <a:off x="548640" y="5257800"/>
            <a:ext cx="5486400" cy="365760"/>
          </a:xfrm>
          <a:prstGeom prst="rect">
            <a:avLst/>
          </a:prstGeom>
          <a:noFill/>
        </p:spPr>
        <p:txBody>
          <a:bodyPr wrap="square" lIns="0" rIns="0" tIns="0" bIns="0" anchor="t">
            <a:spAutoFit/>
          </a:bodyPr>
          <a:lstStyle/>
          <a:p>
            <a:pPr algn="l"/>
            <a:r>
              <a:rPr sz="1200" b="0">
                <a:solidFill>
                  <a:srgbClr val="5B6670"/>
                </a:solidFill>
                <a:latin typeface="Atkinson Hyperlegible Next"/>
              </a:rPr>
              <a:t>Staff case file: rule applied, articles, who read the request, numbers.</a:t>
            </a:r>
          </a:p>
        </p:txBody>
      </p:sp>
      <p:sp>
        <p:nvSpPr>
          <p:cNvPr id="7" name="Rectangle 6"/>
          <p:cNvSpPr/>
          <p:nvPr/>
        </p:nvSpPr>
        <p:spPr>
          <a:xfrm>
            <a:off x="6583680" y="1554480"/>
            <a:ext cx="2103120" cy="73152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720840" y="1554480"/>
            <a:ext cx="1828800" cy="731520"/>
          </a:xfrm>
          <a:prstGeom prst="rect">
            <a:avLst/>
          </a:prstGeom>
          <a:noFill/>
        </p:spPr>
        <p:txBody>
          <a:bodyPr wrap="square" lIns="0" rIns="0" tIns="0" bIns="0" anchor="ctr">
            <a:spAutoFit/>
          </a:bodyPr>
          <a:lstStyle/>
          <a:p>
            <a:pPr algn="l"/>
            <a:r>
              <a:rPr sz="1300" b="1">
                <a:solidFill>
                  <a:srgbClr val="16202A"/>
                </a:solidFill>
                <a:latin typeface="Atkinson Hyperlegible Next"/>
              </a:rPr>
              <a:t>Klinikum Nord</a:t>
            </a:r>
          </a:p>
        </p:txBody>
      </p:sp>
      <p:cxnSp>
        <p:nvCxnSpPr>
          <p:cNvPr id="9" name="Connector 8"/>
          <p:cNvCxnSpPr/>
          <p:nvPr/>
        </p:nvCxnSpPr>
        <p:spPr>
          <a:xfrm>
            <a:off x="8686800" y="1920240"/>
            <a:ext cx="1097280" cy="141732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583680" y="2606039"/>
            <a:ext cx="2103120" cy="73152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20840" y="2606039"/>
            <a:ext cx="1828800" cy="731520"/>
          </a:xfrm>
          <a:prstGeom prst="rect">
            <a:avLst/>
          </a:prstGeom>
          <a:noFill/>
        </p:spPr>
        <p:txBody>
          <a:bodyPr wrap="square" lIns="0" rIns="0" tIns="0" bIns="0" anchor="ctr">
            <a:spAutoFit/>
          </a:bodyPr>
          <a:lstStyle/>
          <a:p>
            <a:pPr algn="l"/>
            <a:r>
              <a:rPr sz="1300" b="1">
                <a:solidFill>
                  <a:srgbClr val="16202A"/>
                </a:solidFill>
                <a:latin typeface="Atkinson Hyperlegible Next"/>
              </a:rPr>
              <a:t>Klinikum Süd</a:t>
            </a:r>
          </a:p>
        </p:txBody>
      </p:sp>
      <p:cxnSp>
        <p:nvCxnSpPr>
          <p:cNvPr id="12" name="Connector 11"/>
          <p:cNvCxnSpPr/>
          <p:nvPr/>
        </p:nvCxnSpPr>
        <p:spPr>
          <a:xfrm>
            <a:off x="8686800" y="2971799"/>
            <a:ext cx="1097280" cy="365761"/>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583680" y="3657600"/>
            <a:ext cx="2103120" cy="73152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3657600"/>
            <a:ext cx="1828800" cy="731520"/>
          </a:xfrm>
          <a:prstGeom prst="rect">
            <a:avLst/>
          </a:prstGeom>
          <a:noFill/>
        </p:spPr>
        <p:txBody>
          <a:bodyPr wrap="square" lIns="0" rIns="0" tIns="0" bIns="0" anchor="ctr">
            <a:spAutoFit/>
          </a:bodyPr>
          <a:lstStyle/>
          <a:p>
            <a:pPr algn="l"/>
            <a:r>
              <a:rPr sz="1300" b="1">
                <a:solidFill>
                  <a:srgbClr val="16202A"/>
                </a:solidFill>
                <a:latin typeface="Atkinson Hyperlegible Next"/>
              </a:rPr>
              <a:t>Klinikum West</a:t>
            </a:r>
          </a:p>
        </p:txBody>
      </p:sp>
      <p:cxnSp>
        <p:nvCxnSpPr>
          <p:cNvPr id="15" name="Connector 14"/>
          <p:cNvCxnSpPr/>
          <p:nvPr/>
        </p:nvCxnSpPr>
        <p:spPr>
          <a:xfrm flipV="1">
            <a:off x="8686800" y="3337560"/>
            <a:ext cx="1097280" cy="685800"/>
          </a:xfrm>
          <a:prstGeom prst="line">
            <a:avLst/>
          </a:prstGeom>
          <a:ln w="19050">
            <a:solidFill>
              <a:srgbClr val="1D4E8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784080" y="3794760"/>
            <a:ext cx="2194560" cy="365760"/>
          </a:xfrm>
          <a:prstGeom prst="rect">
            <a:avLst/>
          </a:prstGeom>
          <a:noFill/>
        </p:spPr>
        <p:txBody>
          <a:bodyPr wrap="square" lIns="0" rIns="0" tIns="0" bIns="0" anchor="t">
            <a:spAutoFit/>
          </a:bodyPr>
          <a:lstStyle/>
          <a:p>
            <a:pPr algn="ctr"/>
            <a:r>
              <a:rPr sz="1100" b="0">
                <a:solidFill>
                  <a:srgbClr val="1D4E89"/>
                </a:solidFill>
                <a:latin typeface="Atkinson Hyperlegible Next"/>
              </a:rPr>
              <a:t>totals only, no patient rows</a:t>
            </a:r>
          </a:p>
        </p:txBody>
      </p:sp>
      <p:sp>
        <p:nvSpPr>
          <p:cNvPr id="17" name="Rectangle 16"/>
          <p:cNvSpPr/>
          <p:nvPr/>
        </p:nvSpPr>
        <p:spPr>
          <a:xfrm>
            <a:off x="9784080" y="2971800"/>
            <a:ext cx="2194560" cy="73152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80" y="2971800"/>
            <a:ext cx="2194560" cy="731520"/>
          </a:xfrm>
          <a:prstGeom prst="rect">
            <a:avLst/>
          </a:prstGeom>
          <a:noFill/>
        </p:spPr>
        <p:txBody>
          <a:bodyPr wrap="square" lIns="0" rIns="0" tIns="0" bIns="0" anchor="ctr">
            <a:spAutoFit/>
          </a:bodyPr>
          <a:lstStyle/>
          <a:p>
            <a:pPr algn="ctr"/>
            <a:r>
              <a:rPr sz="1300" b="1">
                <a:solidFill>
                  <a:srgbClr val="FFFFFF"/>
                </a:solidFill>
                <a:latin typeface="Atkinson Hyperlegible Next"/>
              </a:rPr>
              <a:t>Health Data Access Body</a:t>
            </a:r>
          </a:p>
        </p:txBody>
      </p:sp>
      <p:sp>
        <p:nvSpPr>
          <p:cNvPr id="19" name="TextBox 18"/>
          <p:cNvSpPr txBox="1"/>
          <p:nvPr/>
        </p:nvSpPr>
        <p:spPr>
          <a:xfrm>
            <a:off x="6583680" y="4754880"/>
            <a:ext cx="5394960" cy="1097280"/>
          </a:xfrm>
          <a:prstGeom prst="rect">
            <a:avLst/>
          </a:prstGeom>
          <a:noFill/>
        </p:spPr>
        <p:txBody>
          <a:bodyPr wrap="square" lIns="0" rIns="0" tIns="0" bIns="0" anchor="t">
            <a:spAutoFit/>
          </a:bodyPr>
          <a:lstStyle/>
          <a:p>
            <a:pPr algn="l">
              <a:spcAft>
                <a:spcPts val="800"/>
              </a:spcAft>
            </a:pPr>
            <a:r>
              <a:rPr sz="1400" b="1">
                <a:solidFill>
                  <a:srgbClr val="16202A"/>
                </a:solidFill>
                <a:latin typeface="Atkinson Hyperlegible Next"/>
              </a:rPr>
              <a:t>Queries run inside each hospital. </a:t>
            </a:r>
            <a:r>
              <a:rPr sz="1400" b="0">
                <a:solidFill>
                  <a:srgbClr val="16202A"/>
                </a:solidFill>
                <a:latin typeface="Atkinson Hyperlegible Next"/>
              </a:rPr>
              <a:t>Patient rows never leave; only totals are merged centrally.</a:t>
            </a:r>
          </a:p>
          <a:p>
            <a:pPr algn="l">
              <a:spcAft>
                <a:spcPts val="800"/>
              </a:spcAft>
            </a:pPr>
            <a:r>
              <a:rPr sz="1400" b="1">
                <a:solidFill>
                  <a:srgbClr val="16202A"/>
                </a:solidFill>
                <a:latin typeface="Atkinson Hyperlegible Next"/>
              </a:rPr>
              <a:t>Opted-out patients excluded. </a:t>
            </a:r>
            <a:r>
              <a:rPr sz="1400" b="0">
                <a:solidFill>
                  <a:srgbClr val="16202A"/>
                </a:solidFill>
                <a:latin typeface="Atkinson Hyperlegible Next"/>
              </a:rPr>
              <a:t>Counts under 10 shown as &lt;10.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822960"/>
          </a:xfrm>
          <a:prstGeom prst="rect">
            <a:avLst/>
          </a:prstGeom>
          <a:noFill/>
        </p:spPr>
        <p:txBody>
          <a:bodyPr wrap="square" lIns="0" rIns="0" tIns="0" bIns="0" anchor="t">
            <a:spAutoFit/>
          </a:bodyPr>
          <a:lstStyle/>
          <a:p>
            <a:pPr algn="l"/>
            <a:r>
              <a:rPr sz="3400" b="1">
                <a:solidFill>
                  <a:srgbClr val="16202A"/>
                </a:solidFill>
                <a:latin typeface="Source Serif 4"/>
              </a:rPr>
              <a:t>Results on the 10 sample requests</a:t>
            </a:r>
          </a:p>
        </p:txBody>
      </p:sp>
      <p:sp>
        <p:nvSpPr>
          <p:cNvPr id="4" name="TextBox 3"/>
          <p:cNvSpPr txBox="1"/>
          <p:nvPr/>
        </p:nvSpPr>
        <p:spPr>
          <a:xfrm>
            <a:off x="10424160" y="6263640"/>
            <a:ext cx="7315200" cy="256032"/>
          </a:xfrm>
          <a:prstGeom prst="rect">
            <a:avLst/>
          </a:prstGeom>
          <a:noFill/>
        </p:spPr>
        <p:txBody>
          <a:bodyPr wrap="square" lIns="0" rIns="0" tIns="0" bIns="0" anchor="t">
            <a:spAutoFit/>
          </a:bodyPr>
          <a:lstStyle/>
          <a:p>
            <a:pPr algn="l"/>
            <a:r>
              <a:rPr sz="1400" b="1">
                <a:solidFill>
                  <a:srgbClr val="1D4E89"/>
                </a:solidFill>
                <a:latin typeface="Atkinson Hyperlegible Next"/>
              </a:rPr>
              <a:t>.</a:t>
            </a:r>
            <a:r>
              <a:rPr sz="1400" b="1">
                <a:solidFill>
                  <a:srgbClr val="16202A"/>
                </a:solidFill>
                <a:latin typeface="Atkinson Hyperlegible Next"/>
              </a:rPr>
              <a:t>Gatekeeper</a:t>
            </a:r>
          </a:p>
        </p:txBody>
      </p:sp>
      <p:sp>
        <p:nvSpPr>
          <p:cNvPr id="5" name="Rectangle 4"/>
          <p:cNvSpPr/>
          <p:nvPr/>
        </p:nvSpPr>
        <p:spPr>
          <a:xfrm>
            <a:off x="548640" y="1828800"/>
            <a:ext cx="2075688" cy="256032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48840"/>
            <a:ext cx="1892807" cy="1097280"/>
          </a:xfrm>
          <a:prstGeom prst="rect">
            <a:avLst/>
          </a:prstGeom>
          <a:noFill/>
        </p:spPr>
        <p:txBody>
          <a:bodyPr wrap="square" lIns="0" rIns="0" tIns="0" bIns="0" anchor="ctr">
            <a:spAutoFit/>
          </a:bodyPr>
          <a:lstStyle/>
          <a:p>
            <a:pPr algn="ctr"/>
            <a:r>
              <a:rPr sz="3600" b="1">
                <a:solidFill>
                  <a:srgbClr val="1D4E89"/>
                </a:solidFill>
                <a:latin typeface="IBM Plex Mono"/>
              </a:rPr>
              <a:t>10/10</a:t>
            </a:r>
          </a:p>
        </p:txBody>
      </p:sp>
      <p:sp>
        <p:nvSpPr>
          <p:cNvPr id="7" name="TextBox 6"/>
          <p:cNvSpPr txBox="1"/>
          <p:nvPr/>
        </p:nvSpPr>
        <p:spPr>
          <a:xfrm>
            <a:off x="731520" y="3383280"/>
            <a:ext cx="1737360" cy="731520"/>
          </a:xfrm>
          <a:prstGeom prst="rect">
            <a:avLst/>
          </a:prstGeom>
          <a:noFill/>
        </p:spPr>
        <p:txBody>
          <a:bodyPr wrap="square" lIns="0" rIns="0" tIns="0" bIns="0" anchor="t">
            <a:spAutoFit/>
          </a:bodyPr>
          <a:lstStyle/>
          <a:p>
            <a:pPr algn="ctr"/>
            <a:r>
              <a:rPr sz="1400" b="0">
                <a:solidFill>
                  <a:srgbClr val="5B6670"/>
                </a:solidFill>
                <a:latin typeface="Atkinson Hyperlegible Next"/>
              </a:rPr>
              <a:t>correct decisions</a:t>
            </a:r>
          </a:p>
        </p:txBody>
      </p:sp>
      <p:sp>
        <p:nvSpPr>
          <p:cNvPr id="8" name="Rectangle 7"/>
          <p:cNvSpPr/>
          <p:nvPr/>
        </p:nvSpPr>
        <p:spPr>
          <a:xfrm>
            <a:off x="2807208" y="1828800"/>
            <a:ext cx="2075688" cy="256032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8648" y="2148840"/>
            <a:ext cx="1892807" cy="1097280"/>
          </a:xfrm>
          <a:prstGeom prst="rect">
            <a:avLst/>
          </a:prstGeom>
          <a:noFill/>
        </p:spPr>
        <p:txBody>
          <a:bodyPr wrap="square" lIns="0" rIns="0" tIns="0" bIns="0" anchor="ctr">
            <a:spAutoFit/>
          </a:bodyPr>
          <a:lstStyle/>
          <a:p>
            <a:pPr algn="ctr"/>
            <a:r>
              <a:rPr sz="4800" b="1">
                <a:solidFill>
                  <a:srgbClr val="1D4E89"/>
                </a:solidFill>
                <a:latin typeface="IBM Plex Mono"/>
              </a:rPr>
              <a:t>6/6</a:t>
            </a:r>
          </a:p>
        </p:txBody>
      </p:sp>
      <p:sp>
        <p:nvSpPr>
          <p:cNvPr id="10" name="TextBox 9"/>
          <p:cNvSpPr txBox="1"/>
          <p:nvPr/>
        </p:nvSpPr>
        <p:spPr>
          <a:xfrm>
            <a:off x="2990088" y="3383280"/>
            <a:ext cx="1737360" cy="731520"/>
          </a:xfrm>
          <a:prstGeom prst="rect">
            <a:avLst/>
          </a:prstGeom>
          <a:noFill/>
        </p:spPr>
        <p:txBody>
          <a:bodyPr wrap="square" lIns="0" rIns="0" tIns="0" bIns="0" anchor="t">
            <a:spAutoFit/>
          </a:bodyPr>
          <a:lstStyle/>
          <a:p>
            <a:pPr algn="ctr"/>
            <a:r>
              <a:rPr sz="1400" b="0">
                <a:solidFill>
                  <a:srgbClr val="5B6670"/>
                </a:solidFill>
                <a:latin typeface="Atkinson Hyperlegible Next"/>
              </a:rPr>
              <a:t>correct numbers</a:t>
            </a:r>
          </a:p>
        </p:txBody>
      </p:sp>
      <p:sp>
        <p:nvSpPr>
          <p:cNvPr id="11" name="Rectangle 10"/>
          <p:cNvSpPr/>
          <p:nvPr/>
        </p:nvSpPr>
        <p:spPr>
          <a:xfrm>
            <a:off x="5065776" y="1828800"/>
            <a:ext cx="2075688" cy="256032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57216" y="2148840"/>
            <a:ext cx="1892807" cy="1097280"/>
          </a:xfrm>
          <a:prstGeom prst="rect">
            <a:avLst/>
          </a:prstGeom>
          <a:noFill/>
        </p:spPr>
        <p:txBody>
          <a:bodyPr wrap="square" lIns="0" rIns="0" tIns="0" bIns="0" anchor="ctr">
            <a:spAutoFit/>
          </a:bodyPr>
          <a:lstStyle/>
          <a:p>
            <a:pPr algn="ctr"/>
            <a:r>
              <a:rPr sz="4800" b="1">
                <a:solidFill>
                  <a:srgbClr val="2D6A4F"/>
                </a:solidFill>
                <a:latin typeface="IBM Plex Mono"/>
              </a:rPr>
              <a:t>0</a:t>
            </a:r>
          </a:p>
        </p:txBody>
      </p:sp>
      <p:sp>
        <p:nvSpPr>
          <p:cNvPr id="13" name="TextBox 12"/>
          <p:cNvSpPr txBox="1"/>
          <p:nvPr/>
        </p:nvSpPr>
        <p:spPr>
          <a:xfrm>
            <a:off x="5248656" y="3383280"/>
            <a:ext cx="1737360" cy="731520"/>
          </a:xfrm>
          <a:prstGeom prst="rect">
            <a:avLst/>
          </a:prstGeom>
          <a:noFill/>
        </p:spPr>
        <p:txBody>
          <a:bodyPr wrap="square" lIns="0" rIns="0" tIns="0" bIns="0" anchor="t">
            <a:spAutoFit/>
          </a:bodyPr>
          <a:lstStyle/>
          <a:p>
            <a:pPr algn="ctr"/>
            <a:r>
              <a:rPr sz="1400" b="0">
                <a:solidFill>
                  <a:srgbClr val="5B6670"/>
                </a:solidFill>
                <a:latin typeface="Atkinson Hyperlegible Next"/>
              </a:rPr>
              <a:t>privacy leaks</a:t>
            </a:r>
          </a:p>
        </p:txBody>
      </p:sp>
      <p:sp>
        <p:nvSpPr>
          <p:cNvPr id="14" name="Rectangle 13"/>
          <p:cNvSpPr/>
          <p:nvPr/>
        </p:nvSpPr>
        <p:spPr>
          <a:xfrm>
            <a:off x="7324344" y="1828800"/>
            <a:ext cx="2075688" cy="256032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15783" y="2148840"/>
            <a:ext cx="1892807" cy="1097280"/>
          </a:xfrm>
          <a:prstGeom prst="rect">
            <a:avLst/>
          </a:prstGeom>
          <a:noFill/>
        </p:spPr>
        <p:txBody>
          <a:bodyPr wrap="square" lIns="0" rIns="0" tIns="0" bIns="0" anchor="ctr">
            <a:spAutoFit/>
          </a:bodyPr>
          <a:lstStyle/>
          <a:p>
            <a:pPr algn="ctr"/>
            <a:r>
              <a:rPr sz="3600" b="1">
                <a:solidFill>
                  <a:srgbClr val="1D4E89"/>
                </a:solidFill>
                <a:latin typeface="IBM Plex Mono"/>
              </a:rPr>
              <a:t>10/10</a:t>
            </a:r>
          </a:p>
        </p:txBody>
      </p:sp>
      <p:sp>
        <p:nvSpPr>
          <p:cNvPr id="16" name="TextBox 15"/>
          <p:cNvSpPr txBox="1"/>
          <p:nvPr/>
        </p:nvSpPr>
        <p:spPr>
          <a:xfrm>
            <a:off x="7507223" y="3383280"/>
            <a:ext cx="1737360" cy="731520"/>
          </a:xfrm>
          <a:prstGeom prst="rect">
            <a:avLst/>
          </a:prstGeom>
          <a:noFill/>
        </p:spPr>
        <p:txBody>
          <a:bodyPr wrap="square" lIns="0" rIns="0" tIns="0" bIns="0" anchor="t">
            <a:spAutoFit/>
          </a:bodyPr>
          <a:lstStyle/>
          <a:p>
            <a:pPr algn="ctr"/>
            <a:r>
              <a:rPr sz="1400" b="0">
                <a:solidFill>
                  <a:srgbClr val="5B6670"/>
                </a:solidFill>
                <a:latin typeface="Atkinson Hyperlegible Next"/>
              </a:rPr>
              <a:t>consistent over 3 runs</a:t>
            </a:r>
          </a:p>
        </p:txBody>
      </p:sp>
      <p:sp>
        <p:nvSpPr>
          <p:cNvPr id="17" name="Rectangle 16"/>
          <p:cNvSpPr/>
          <p:nvPr/>
        </p:nvSpPr>
        <p:spPr>
          <a:xfrm>
            <a:off x="9582912" y="1828800"/>
            <a:ext cx="2075688" cy="256032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74352" y="2148840"/>
            <a:ext cx="1892807" cy="1097280"/>
          </a:xfrm>
          <a:prstGeom prst="rect">
            <a:avLst/>
          </a:prstGeom>
          <a:noFill/>
        </p:spPr>
        <p:txBody>
          <a:bodyPr wrap="square" lIns="0" rIns="0" tIns="0" bIns="0" anchor="ctr">
            <a:spAutoFit/>
          </a:bodyPr>
          <a:lstStyle/>
          <a:p>
            <a:pPr algn="ctr"/>
            <a:r>
              <a:rPr sz="3600" b="1">
                <a:solidFill>
                  <a:srgbClr val="16202A"/>
                </a:solidFill>
                <a:latin typeface="IBM Plex Mono"/>
              </a:rPr>
              <a:t>12.7 s</a:t>
            </a:r>
          </a:p>
        </p:txBody>
      </p:sp>
      <p:sp>
        <p:nvSpPr>
          <p:cNvPr id="19" name="TextBox 18"/>
          <p:cNvSpPr txBox="1"/>
          <p:nvPr/>
        </p:nvSpPr>
        <p:spPr>
          <a:xfrm>
            <a:off x="9765792" y="3383280"/>
            <a:ext cx="1737360" cy="731520"/>
          </a:xfrm>
          <a:prstGeom prst="rect">
            <a:avLst/>
          </a:prstGeom>
          <a:noFill/>
        </p:spPr>
        <p:txBody>
          <a:bodyPr wrap="square" lIns="0" rIns="0" tIns="0" bIns="0" anchor="t">
            <a:spAutoFit/>
          </a:bodyPr>
          <a:lstStyle/>
          <a:p>
            <a:pPr algn="ctr"/>
            <a:r>
              <a:rPr sz="1400" b="0">
                <a:solidFill>
                  <a:srgbClr val="5B6670"/>
                </a:solidFill>
                <a:latin typeface="Atkinson Hyperlegible Next"/>
              </a:rPr>
              <a:t>slowest request</a:t>
            </a:r>
          </a:p>
        </p:txBody>
      </p:sp>
      <p:sp>
        <p:nvSpPr>
          <p:cNvPr id="20" name="TextBox 19"/>
          <p:cNvSpPr txBox="1"/>
          <p:nvPr/>
        </p:nvSpPr>
        <p:spPr>
          <a:xfrm>
            <a:off x="548640" y="4754880"/>
            <a:ext cx="10972800" cy="457200"/>
          </a:xfrm>
          <a:prstGeom prst="rect">
            <a:avLst/>
          </a:prstGeom>
          <a:noFill/>
        </p:spPr>
        <p:txBody>
          <a:bodyPr wrap="square" lIns="0" rIns="0" tIns="0" bIns="0" anchor="t">
            <a:spAutoFit/>
          </a:bodyPr>
          <a:lstStyle/>
          <a:p>
            <a:pPr algn="l"/>
            <a:r>
              <a:rPr sz="1400" b="0">
                <a:solidFill>
                  <a:srgbClr val="5B6670"/>
                </a:solidFill>
                <a:latin typeface="Atkinson Hyperlegible Next"/>
              </a:rPr>
              <a:t>Measured on the 10 sample requests, synthetic data.</a:t>
            </a:r>
          </a:p>
        </p:txBody>
      </p:sp>
      <p:sp>
        <p:nvSpPr>
          <p:cNvPr id="21" name="TextBox 20"/>
          <p:cNvSpPr txBox="1"/>
          <p:nvPr/>
        </p:nvSpPr>
        <p:spPr>
          <a:xfrm>
            <a:off x="548640" y="5212080"/>
            <a:ext cx="10972800" cy="731520"/>
          </a:xfrm>
          <a:prstGeom prst="rect">
            <a:avLst/>
          </a:prstGeom>
          <a:noFill/>
        </p:spPr>
        <p:txBody>
          <a:bodyPr wrap="square" lIns="0" rIns="0" tIns="0" bIns="0" anchor="t">
            <a:spAutoFit/>
          </a:bodyPr>
          <a:lstStyle/>
          <a:p>
            <a:pPr algn="l"/>
            <a:r>
              <a:rPr sz="1600" b="0">
                <a:solidFill>
                  <a:srgbClr val="16202A"/>
                </a:solidFill>
                <a:latin typeface="Atkinson Hyperlegible Next"/>
              </a:rPr>
              <a:t>Decision accuracy, statistical correctness, privacy protection, consistency, processing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11064240" cy="822960"/>
          </a:xfrm>
          <a:prstGeom prst="rect">
            <a:avLst/>
          </a:prstGeom>
          <a:noFill/>
        </p:spPr>
        <p:txBody>
          <a:bodyPr wrap="square" lIns="0" rIns="0" tIns="0" bIns="0" anchor="t">
            <a:spAutoFit/>
          </a:bodyPr>
          <a:lstStyle/>
          <a:p>
            <a:pPr algn="l"/>
            <a:r>
              <a:rPr sz="3400" b="1">
                <a:solidFill>
                  <a:srgbClr val="16202A"/>
                </a:solidFill>
                <a:latin typeface="Source Serif 4"/>
              </a:rPr>
              <a:t>Vision and limitations</a:t>
            </a:r>
          </a:p>
        </p:txBody>
      </p:sp>
      <p:sp>
        <p:nvSpPr>
          <p:cNvPr id="4" name="TextBox 3"/>
          <p:cNvSpPr txBox="1"/>
          <p:nvPr/>
        </p:nvSpPr>
        <p:spPr>
          <a:xfrm>
            <a:off x="10424160" y="6263640"/>
            <a:ext cx="7315200" cy="256032"/>
          </a:xfrm>
          <a:prstGeom prst="rect">
            <a:avLst/>
          </a:prstGeom>
          <a:noFill/>
        </p:spPr>
        <p:txBody>
          <a:bodyPr wrap="square" lIns="0" rIns="0" tIns="0" bIns="0" anchor="t">
            <a:spAutoFit/>
          </a:bodyPr>
          <a:lstStyle/>
          <a:p>
            <a:pPr algn="l"/>
            <a:r>
              <a:rPr sz="1400" b="1">
                <a:solidFill>
                  <a:srgbClr val="1D4E89"/>
                </a:solidFill>
                <a:latin typeface="Atkinson Hyperlegible Next"/>
              </a:rPr>
              <a:t>.</a:t>
            </a:r>
            <a:r>
              <a:rPr sz="1400" b="1">
                <a:solidFill>
                  <a:srgbClr val="16202A"/>
                </a:solidFill>
                <a:latin typeface="Atkinson Hyperlegible Next"/>
              </a:rPr>
              <a:t>Gatekeeper</a:t>
            </a:r>
          </a:p>
        </p:txBody>
      </p:sp>
      <p:sp>
        <p:nvSpPr>
          <p:cNvPr id="5" name="Rectangle 4"/>
          <p:cNvSpPr/>
          <p:nvPr/>
        </p:nvSpPr>
        <p:spPr>
          <a:xfrm>
            <a:off x="548640" y="1554480"/>
            <a:ext cx="5394960" cy="329184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663440" cy="457200"/>
          </a:xfrm>
          <a:prstGeom prst="rect">
            <a:avLst/>
          </a:prstGeom>
          <a:noFill/>
        </p:spPr>
        <p:txBody>
          <a:bodyPr wrap="square" lIns="0" rIns="0" tIns="0" bIns="0" anchor="t">
            <a:spAutoFit/>
          </a:bodyPr>
          <a:lstStyle/>
          <a:p>
            <a:pPr algn="l"/>
            <a:r>
              <a:rPr sz="1600" b="1">
                <a:solidFill>
                  <a:srgbClr val="5B6670"/>
                </a:solidFill>
                <a:latin typeface="Atkinson Hyperlegible Next"/>
              </a:rPr>
              <a:t>Today</a:t>
            </a:r>
          </a:p>
        </p:txBody>
      </p:sp>
      <p:sp>
        <p:nvSpPr>
          <p:cNvPr id="7" name="TextBox 6"/>
          <p:cNvSpPr txBox="1"/>
          <p:nvPr/>
        </p:nvSpPr>
        <p:spPr>
          <a:xfrm>
            <a:off x="914400" y="2377440"/>
            <a:ext cx="4663440" cy="2286000"/>
          </a:xfrm>
          <a:prstGeom prst="rect">
            <a:avLst/>
          </a:prstGeom>
          <a:noFill/>
        </p:spPr>
        <p:txBody>
          <a:bodyPr wrap="square" lIns="0" rIns="0" tIns="0" bIns="0" anchor="t">
            <a:spAutoFit/>
          </a:bodyPr>
          <a:lstStyle/>
          <a:p>
            <a:pPr algn="l">
              <a:spcAft>
                <a:spcPts val="800"/>
              </a:spcAft>
            </a:pPr>
            <a:r>
              <a:rPr sz="1500" b="0">
                <a:solidFill>
                  <a:srgbClr val="16202A"/>
                </a:solidFill>
                <a:latin typeface="Atkinson Hyperlegible Next"/>
              </a:rPr>
              <a:t>Prototype runs the full workflow on synthetic hospital data.</a:t>
            </a:r>
          </a:p>
          <a:p>
            <a:pPr algn="l">
              <a:spcAft>
                <a:spcPts val="800"/>
              </a:spcAft>
            </a:pPr>
            <a:r>
              <a:rPr sz="1500" b="0">
                <a:solidFill>
                  <a:srgbClr val="16202A"/>
                </a:solidFill>
                <a:latin typeface="Atkinson Hyperlegible Next"/>
              </a:rPr>
              <a:t>Three hospital databases in one process; in production each sits behind its own service.</a:t>
            </a:r>
          </a:p>
          <a:p>
            <a:pPr algn="l">
              <a:spcAft>
                <a:spcPts val="800"/>
              </a:spcAft>
            </a:pPr>
            <a:r>
              <a:rPr sz="1500" b="0">
                <a:solidFill>
                  <a:srgbClr val="16202A"/>
                </a:solidFill>
                <a:latin typeface="Atkinson Hyperlegible Next"/>
              </a:rPr>
              <a:t>Cases live in memory; no login; runs locally.</a:t>
            </a:r>
          </a:p>
        </p:txBody>
      </p:sp>
      <p:sp>
        <p:nvSpPr>
          <p:cNvPr id="8" name="Rectangle 7"/>
          <p:cNvSpPr/>
          <p:nvPr/>
        </p:nvSpPr>
        <p:spPr>
          <a:xfrm>
            <a:off x="6217920" y="1554480"/>
            <a:ext cx="5394960" cy="3291840"/>
          </a:xfrm>
          <a:prstGeom prst="rect">
            <a:avLst/>
          </a:prstGeom>
          <a:solidFill>
            <a:srgbClr val="FFFFFF"/>
          </a:solidFill>
          <a:ln w="12700">
            <a:solidFill>
              <a:srgbClr val="C9D0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828800"/>
            <a:ext cx="4663440" cy="457200"/>
          </a:xfrm>
          <a:prstGeom prst="rect">
            <a:avLst/>
          </a:prstGeom>
          <a:noFill/>
        </p:spPr>
        <p:txBody>
          <a:bodyPr wrap="square" lIns="0" rIns="0" tIns="0" bIns="0" anchor="t">
            <a:spAutoFit/>
          </a:bodyPr>
          <a:lstStyle/>
          <a:p>
            <a:pPr algn="l"/>
            <a:r>
              <a:rPr sz="1600" b="1">
                <a:solidFill>
                  <a:srgbClr val="5B6670"/>
                </a:solidFill>
                <a:latin typeface="Atkinson Hyperlegible Next"/>
              </a:rPr>
              <a:t>Future work</a:t>
            </a:r>
          </a:p>
        </p:txBody>
      </p:sp>
      <p:sp>
        <p:nvSpPr>
          <p:cNvPr id="10" name="TextBox 9"/>
          <p:cNvSpPr txBox="1"/>
          <p:nvPr/>
        </p:nvSpPr>
        <p:spPr>
          <a:xfrm>
            <a:off x="6583680" y="2377440"/>
            <a:ext cx="4663440" cy="2286000"/>
          </a:xfrm>
          <a:prstGeom prst="rect">
            <a:avLst/>
          </a:prstGeom>
          <a:noFill/>
        </p:spPr>
        <p:txBody>
          <a:bodyPr wrap="square" lIns="0" rIns="0" tIns="0" bIns="0" anchor="t">
            <a:spAutoFit/>
          </a:bodyPr>
          <a:lstStyle/>
          <a:p>
            <a:pPr algn="l">
              <a:spcAft>
                <a:spcPts val="800"/>
              </a:spcAft>
            </a:pPr>
            <a:r>
              <a:rPr sz="1500" b="0">
                <a:solidFill>
                  <a:srgbClr val="16202A"/>
                </a:solidFill>
                <a:latin typeface="Atkinson Hyperlegible Next"/>
              </a:rPr>
              <a:t>Integration with real European healthcare infrastructure.</a:t>
            </a:r>
          </a:p>
          <a:p>
            <a:pPr algn="l">
              <a:spcAft>
                <a:spcPts val="800"/>
              </a:spcAft>
            </a:pPr>
            <a:r>
              <a:rPr sz="1500" b="0">
                <a:solidFill>
                  <a:srgbClr val="16202A"/>
                </a:solidFill>
                <a:latin typeface="Atkinson Hyperlegible Next"/>
              </a:rPr>
              <a:t>Help research institutions access and analyze health data more reliably, affordably, and securely.</a:t>
            </a:r>
          </a:p>
        </p:txBody>
      </p:sp>
      <p:sp>
        <p:nvSpPr>
          <p:cNvPr id="11" name="TextBox 10"/>
          <p:cNvSpPr txBox="1"/>
          <p:nvPr/>
        </p:nvSpPr>
        <p:spPr>
          <a:xfrm>
            <a:off x="548640" y="5212080"/>
            <a:ext cx="11064240" cy="914400"/>
          </a:xfrm>
          <a:prstGeom prst="rect">
            <a:avLst/>
          </a:prstGeom>
          <a:noFill/>
        </p:spPr>
        <p:txBody>
          <a:bodyPr wrap="square" lIns="0" rIns="0" tIns="0" bIns="0" anchor="t">
            <a:spAutoFit/>
          </a:bodyPr>
          <a:lstStyle/>
          <a:p>
            <a:pPr algn="l"/>
            <a:r>
              <a:rPr sz="2600" b="1">
                <a:solidFill>
                  <a:srgbClr val="1D4E89"/>
                </a:solidFill>
                <a:latin typeface="Source Serif 4"/>
              </a:rPr>
              <a:t>Making European health research safer, smarter, and more accessible.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